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sldIdLst>
    <p:sldId id="256" r:id="rId3"/>
    <p:sldId id="257" r:id="rId4"/>
    <p:sldId id="258" r:id="rId5"/>
    <p:sldId id="259" r:id="rId6"/>
    <p:sldId id="260" r:id="rId7"/>
    <p:sldId id="261" r:id="rId8"/>
    <p:sldId id="263" r:id="rId9"/>
    <p:sldId id="262"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EC65B2F1-49AE-41C9-ABB4-E84FB3855E46}">
          <p14:sldIdLst>
            <p14:sldId id="256"/>
            <p14:sldId id="257"/>
          </p14:sldIdLst>
        </p14:section>
        <p14:section name="Untitled Section" id="{74F27427-FC5F-4A16-83DC-2E8295424B78}">
          <p14:sldIdLst>
            <p14:sldId id="258"/>
            <p14:sldId id="259"/>
            <p14:sldId id="260"/>
            <p14:sldId id="261"/>
            <p14:sldId id="263"/>
            <p14:sldId id="262"/>
          </p14:sldIdLst>
        </p14:section>
      </p14:sectionLst>
    </p:ex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2" d="100"/>
          <a:sy n="82" d="100"/>
        </p:scale>
        <p:origin x="720"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p:cNvPicPr preferRelativeResize="0"/>
          <p:nvPr/>
        </p:nvPicPr>
        <p:blipFill rotWithShape="1">
          <a:blip r:embed="rId5"/>
          <a:srcRect/>
          <a:stretch>
            <a:fillRect/>
          </a:stretch>
        </p:blipFill>
        <p:spPr>
          <a:xfrm>
            <a:off x="10072688" y="78002"/>
            <a:ext cx="1800225" cy="575514"/>
          </a:xfrm>
          <a:prstGeom prst="rect">
            <a:avLst/>
          </a:prstGeom>
          <a:noFill/>
          <a:ln>
            <a:noFill/>
          </a:ln>
        </p:spPr>
      </p:pic>
      <p:sp>
        <p:nvSpPr>
          <p:cNvPr id="15" name="Rectangle 14"/>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p:cNvPicPr>
            <a:picLocks noChangeAspect="1"/>
          </p:cNvPicPr>
          <p:nvPr/>
        </p:nvPicPr>
        <p:blipFill rotWithShape="1">
          <a:blip r:embed="rId6">
            <a:alphaModFix amt="16000"/>
          </a:blip>
          <a:srcRect t="24724" r="1619" b="63695"/>
          <a:stretch>
            <a:fillRect/>
          </a:stretch>
        </p:blipFill>
        <p:spPr>
          <a:xfrm>
            <a:off x="0" y="-1"/>
            <a:ext cx="9839325" cy="723901"/>
          </a:xfrm>
          <a:prstGeom prst="rect">
            <a:avLst/>
          </a:prstGeom>
        </p:spPr>
      </p:pic>
      <p:sp>
        <p:nvSpPr>
          <p:cNvPr id="2" name="Rectangle 1"/>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6.png"/><Relationship Id="rId1" Type="http://schemas.openxmlformats.org/officeDocument/2006/relationships/hyperlink" Target="https://www.freepik.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p:cNvPicPr>
            <a:picLocks noChangeAspect="1"/>
          </p:cNvPicPr>
          <p:nvPr/>
        </p:nvPicPr>
        <p:blipFill>
          <a:blip r:embed="rId1"/>
          <a:stretch>
            <a:fillRect/>
          </a:stretch>
        </p:blipFill>
        <p:spPr>
          <a:xfrm>
            <a:off x="0" y="0"/>
            <a:ext cx="12192000" cy="6858000"/>
          </a:xfrm>
          <a:prstGeom prst="rect">
            <a:avLst/>
          </a:prstGeom>
        </p:spPr>
      </p:pic>
      <p:sp>
        <p:nvSpPr>
          <p:cNvPr id="4" name="Rectangle: Rounded Corners 3"/>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p:cNvSpPr txBox="1"/>
          <p:nvPr/>
        </p:nvSpPr>
        <p:spPr>
          <a:xfrm>
            <a:off x="4866005" y="3429000"/>
            <a:ext cx="5629353" cy="1200329"/>
          </a:xfrm>
          <a:prstGeom prst="rect">
            <a:avLst/>
          </a:prstGeom>
          <a:noFill/>
        </p:spPr>
        <p:txBody>
          <a:bodyPr wrap="square" rtlCol="0">
            <a:spAutoFit/>
          </a:bodyPr>
          <a:lstStyle/>
          <a:p>
            <a:pPr algn="r"/>
            <a:r>
              <a:rPr lang="en-US" sz="3600" b="1" dirty="0">
                <a:solidFill>
                  <a:schemeClr val="bg1"/>
                </a:solidFill>
                <a:latin typeface="Arial" panose="020B0604020202020204" pitchFamily="34" charset="0"/>
                <a:cs typeface="Arial" panose="020B0604020202020204" pitchFamily="34" charset="0"/>
              </a:rPr>
              <a:t>CARBON EMISSION</a:t>
            </a:r>
            <a:endParaRPr lang="en-US" sz="3600" b="1" dirty="0">
              <a:solidFill>
                <a:schemeClr val="bg1"/>
              </a:solidFill>
              <a:latin typeface="Arial" panose="020B0604020202020204" pitchFamily="34" charset="0"/>
              <a:cs typeface="Arial" panose="020B0604020202020204" pitchFamily="34" charset="0"/>
            </a:endParaRPr>
          </a:p>
          <a:p>
            <a:pPr algn="r"/>
            <a:endParaRPr lang="en-US" sz="3600" b="1" dirty="0">
              <a:solidFill>
                <a:schemeClr val="bg1"/>
              </a:solidFill>
              <a:latin typeface="Arial" panose="020B0604020202020204" pitchFamily="34" charset="0"/>
              <a:cs typeface="Arial" panose="020B0604020202020204" pitchFamily="34" charset="0"/>
            </a:endParaRPr>
          </a:p>
        </p:txBody>
      </p:sp>
      <p:grpSp>
        <p:nvGrpSpPr>
          <p:cNvPr id="6" name="Group 5"/>
          <p:cNvGrpSpPr/>
          <p:nvPr/>
        </p:nvGrpSpPr>
        <p:grpSpPr>
          <a:xfrm>
            <a:off x="6890523" y="742091"/>
            <a:ext cx="2640053" cy="664378"/>
            <a:chOff x="2375536" y="1112060"/>
            <a:chExt cx="3292636" cy="828603"/>
          </a:xfrm>
        </p:grpSpPr>
        <p:pic>
          <p:nvPicPr>
            <p:cNvPr id="7" name="Picture 6" descr="A close 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p:cNvPicPr>
              <a:picLocks noChangeAspect="1"/>
            </p:cNvPicPr>
            <p:nvPr/>
          </p:nvPicPr>
          <p:blipFill>
            <a:blip r:embed="rId3"/>
            <a:stretch>
              <a:fillRect/>
            </a:stretch>
          </p:blipFill>
          <p:spPr>
            <a:xfrm>
              <a:off x="2375536" y="1112060"/>
              <a:ext cx="985475" cy="828603"/>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9809" y="1042610"/>
            <a:ext cx="2652889" cy="400110"/>
          </a:xfrm>
          <a:prstGeom prst="rect">
            <a:avLst/>
          </a:prstGeom>
          <a:noFill/>
        </p:spPr>
        <p:txBody>
          <a:bodyPr wrap="square">
            <a:spAutoFit/>
          </a:bodyPr>
          <a:lstStyle/>
          <a:p>
            <a:r>
              <a:rPr lang="en-IN" sz="2000" b="1" dirty="0">
                <a:solidFill>
                  <a:srgbClr val="213163"/>
                </a:solidFill>
              </a:rPr>
              <a:t>Learning Objectives</a:t>
            </a:r>
            <a:endParaRPr lang="en-IN" sz="2000" b="1" dirty="0">
              <a:solidFill>
                <a:srgbClr val="213163"/>
              </a:solidFill>
            </a:endParaRPr>
          </a:p>
        </p:txBody>
      </p:sp>
      <p:sp>
        <p:nvSpPr>
          <p:cNvPr id="3" name="TextBox 2"/>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endParaRPr lang="en-IN" sz="1200" b="1" dirty="0">
              <a:latin typeface="+mn-lt"/>
            </a:endParaRPr>
          </a:p>
        </p:txBody>
      </p:sp>
      <p:sp>
        <p:nvSpPr>
          <p:cNvPr id="4" name="TextBox 3"/>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1"/>
              </a:rPr>
              <a:t>www.freepik.com/</a:t>
            </a:r>
            <a:endParaRPr lang="en-IN" sz="1200" dirty="0">
              <a:solidFill>
                <a:srgbClr val="0000FF"/>
              </a:solidFill>
              <a:latin typeface="+mn-lt"/>
            </a:endParaRPr>
          </a:p>
        </p:txBody>
      </p:sp>
      <p:cxnSp>
        <p:nvCxnSpPr>
          <p:cNvPr id="5" name="Straight Connector 4"/>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p:cNvPicPr>
            <a:picLocks noChangeAspect="1"/>
          </p:cNvPicPr>
          <p:nvPr/>
        </p:nvPicPr>
        <p:blipFill rotWithShape="1">
          <a:blip r:embed="rId2">
            <a:alphaModFix amt="85000"/>
          </a:blip>
          <a:srcRect l="13763" t="6135" r="13650"/>
          <a:stretch>
            <a:fillRect/>
          </a:stretch>
        </p:blipFill>
        <p:spPr>
          <a:xfrm>
            <a:off x="7340600" y="1442720"/>
            <a:ext cx="4500880" cy="4632960"/>
          </a:xfrm>
          <a:prstGeom prst="rect">
            <a:avLst/>
          </a:prstGeom>
        </p:spPr>
      </p:pic>
      <p:sp>
        <p:nvSpPr>
          <p:cNvPr id="7" name="TextBox 6"/>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endParaRPr lang="en-IN" sz="3500" b="1" dirty="0">
              <a:solidFill>
                <a:schemeClr val="tx1"/>
              </a:solidFill>
              <a:latin typeface="+mn-lt"/>
            </a:endParaRPr>
          </a:p>
        </p:txBody>
      </p:sp>
      <p:sp>
        <p:nvSpPr>
          <p:cNvPr id="12" name="TextBox 11"/>
          <p:cNvSpPr txBox="1"/>
          <p:nvPr/>
        </p:nvSpPr>
        <p:spPr>
          <a:xfrm>
            <a:off x="199809" y="1442720"/>
            <a:ext cx="7007289" cy="4730398"/>
          </a:xfrm>
          <a:prstGeom prst="rect">
            <a:avLst/>
          </a:prstGeom>
          <a:noFill/>
        </p:spPr>
        <p:txBody>
          <a:bodyPr wrap="square" rtlCol="0">
            <a:spAutoFit/>
          </a:bodyPr>
          <a:lstStyle/>
          <a:p>
            <a:r>
              <a:rPr lang="en-US" sz="2000" dirty="0"/>
              <a:t>Understand Linear Regression</a:t>
            </a:r>
            <a:r>
              <a:rPr lang="en-US" dirty="0"/>
              <a:t>:</a:t>
            </a:r>
            <a:endParaRPr lang="en-US" dirty="0"/>
          </a:p>
          <a:p>
            <a:r>
              <a:rPr lang="en-US" dirty="0"/>
              <a:t>Learn how to apply simple linear regression to model the relationship between vehicle distance and carbon emissions.</a:t>
            </a:r>
            <a:endParaRPr lang="en-US" dirty="0"/>
          </a:p>
          <a:p>
            <a:r>
              <a:rPr lang="en-US" dirty="0"/>
              <a:t>Interpret model parameters, including slope and intercept.</a:t>
            </a:r>
            <a:endParaRPr lang="en-US" dirty="0"/>
          </a:p>
          <a:p>
            <a:r>
              <a:rPr lang="en-US" dirty="0"/>
              <a:t>Data Preprocessing and Feature Engineering.</a:t>
            </a:r>
            <a:endParaRPr lang="en-US" dirty="0"/>
          </a:p>
          <a:p>
            <a:r>
              <a:rPr lang="en-US" sz="2000" dirty="0"/>
              <a:t>Read and manipulate data using Pandas:</a:t>
            </a:r>
            <a:endParaRPr lang="en-US" sz="2000" dirty="0"/>
          </a:p>
          <a:p>
            <a:r>
              <a:rPr lang="en-US" dirty="0"/>
              <a:t>Generate calculated features (e.g., Carbon Emission = Distance × Emission Factor).</a:t>
            </a:r>
            <a:endParaRPr lang="en-US" dirty="0"/>
          </a:p>
          <a:p>
            <a:r>
              <a:rPr lang="en-US" dirty="0"/>
              <a:t>Model Training and Evaluation</a:t>
            </a:r>
            <a:endParaRPr lang="en-US" dirty="0"/>
          </a:p>
          <a:p>
            <a:r>
              <a:rPr lang="en-US" dirty="0"/>
              <a:t>Train a linear regression model using scikit-learn.</a:t>
            </a:r>
            <a:endParaRPr lang="en-US" dirty="0"/>
          </a:p>
          <a:p>
            <a:r>
              <a:rPr lang="en-US" dirty="0"/>
              <a:t>Evaluate model performance using R² score (achieved 1.000 in this case).</a:t>
            </a:r>
            <a:endParaRPr lang="en-US" dirty="0"/>
          </a:p>
          <a:p>
            <a:r>
              <a:rPr lang="en-US" dirty="0"/>
              <a:t>Visualization and Interpretation</a:t>
            </a:r>
            <a:endParaRPr lang="en-US" dirty="0"/>
          </a:p>
          <a:p>
            <a:r>
              <a:rPr lang="en-US" dirty="0"/>
              <a:t>Plot data points and regression lines using Matplotlib.</a:t>
            </a:r>
            <a:endParaRPr lang="en-US" dirty="0"/>
          </a:p>
          <a:p>
            <a:r>
              <a:rPr lang="en-US" dirty="0"/>
              <a:t>Interpret visual results and model accuracy.</a:t>
            </a:r>
            <a:endParaRPr lang="en-US" dirty="0"/>
          </a:p>
          <a:p>
            <a:r>
              <a:rPr lang="en-US" dirty="0"/>
              <a:t>Environmental Impact Awareness.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endParaRPr lang="en-IN" sz="2000" b="1" dirty="0">
              <a:solidFill>
                <a:srgbClr val="213163"/>
              </a:solidFill>
            </a:endParaRPr>
          </a:p>
        </p:txBody>
      </p:sp>
      <p:sp>
        <p:nvSpPr>
          <p:cNvPr id="2" name="TextBox 1"/>
          <p:cNvSpPr txBox="1"/>
          <p:nvPr/>
        </p:nvSpPr>
        <p:spPr>
          <a:xfrm>
            <a:off x="135834" y="1467774"/>
            <a:ext cx="10230721" cy="4976812"/>
          </a:xfrm>
          <a:prstGeom prst="rect">
            <a:avLst/>
          </a:prstGeom>
          <a:noFill/>
        </p:spPr>
        <p:txBody>
          <a:bodyPr wrap="square" rtlCol="0">
            <a:spAutoFit/>
          </a:bodyPr>
          <a:lstStyle/>
          <a:p>
            <a:r>
              <a:rPr lang="en-US" dirty="0"/>
              <a:t>Pandas:</a:t>
            </a:r>
            <a:endParaRPr lang="en-US" dirty="0"/>
          </a:p>
          <a:p>
            <a:r>
              <a:rPr lang="en-US" dirty="0"/>
              <a:t>Used for data manipulation and reading the dataset from a CSV file.</a:t>
            </a:r>
            <a:endParaRPr lang="en-US" dirty="0"/>
          </a:p>
          <a:p>
            <a:r>
              <a:rPr lang="en-US" dirty="0"/>
              <a:t>NumPy:</a:t>
            </a:r>
            <a:endParaRPr lang="en-US" dirty="0"/>
          </a:p>
          <a:p>
            <a:r>
              <a:rPr lang="en-US" dirty="0"/>
              <a:t>Supports numerical operations (not directly used in the code, but can be helpful in data processing).</a:t>
            </a:r>
            <a:endParaRPr lang="en-US" dirty="0"/>
          </a:p>
          <a:p>
            <a:r>
              <a:rPr lang="en-US" dirty="0"/>
              <a:t>Matplotlib:</a:t>
            </a:r>
            <a:endParaRPr lang="en-US" dirty="0"/>
          </a:p>
          <a:p>
            <a:r>
              <a:rPr lang="en-US" dirty="0"/>
              <a:t>Utilized for data visualization, including creating scatter plots and regression line graphs.</a:t>
            </a:r>
            <a:endParaRPr lang="en-US" dirty="0"/>
          </a:p>
          <a:p>
            <a:r>
              <a:rPr lang="en-US" dirty="0"/>
              <a:t>Scikit-learn:</a:t>
            </a:r>
            <a:endParaRPr lang="en-US" dirty="0"/>
          </a:p>
          <a:p>
            <a:r>
              <a:rPr lang="en-US" dirty="0"/>
              <a:t>Implements Linear Regression for predicting carbon emissions based on vehicle distance.</a:t>
            </a:r>
            <a:endParaRPr lang="en-US" dirty="0"/>
          </a:p>
          <a:p>
            <a:r>
              <a:rPr lang="en-US" dirty="0"/>
              <a:t>Uses r2_score to evaluate model accuracy.</a:t>
            </a:r>
            <a:endParaRPr lang="en-US" dirty="0"/>
          </a:p>
          <a:p>
            <a:r>
              <a:rPr lang="en-US" dirty="0"/>
              <a:t>Approach:</a:t>
            </a:r>
            <a:endParaRPr lang="en-US" dirty="0"/>
          </a:p>
          <a:p>
            <a:r>
              <a:rPr lang="en-US" dirty="0"/>
              <a:t>Linear Regression </a:t>
            </a:r>
            <a:r>
              <a:rPr lang="en-US" dirty="0" err="1"/>
              <a:t>ModelInput</a:t>
            </a:r>
            <a:r>
              <a:rPr lang="en-US" dirty="0"/>
              <a:t>:</a:t>
            </a:r>
            <a:endParaRPr lang="en-US" dirty="0"/>
          </a:p>
          <a:p>
            <a:r>
              <a:rPr lang="en-US" dirty="0"/>
              <a:t>Vehicle monthly distance (in kilometers).</a:t>
            </a:r>
            <a:endParaRPr lang="en-US" dirty="0"/>
          </a:p>
          <a:p>
            <a:r>
              <a:rPr lang="en-US" dirty="0"/>
              <a:t>Output:</a:t>
            </a:r>
            <a:endParaRPr lang="en-US" dirty="0"/>
          </a:p>
          <a:p>
            <a:r>
              <a:rPr lang="en-US" dirty="0"/>
              <a:t>Calculated carbon emission (in kg CO₂).R² </a:t>
            </a:r>
            <a:r>
              <a:rPr lang="en-US" dirty="0" err="1"/>
              <a:t>ScoreMeasures</a:t>
            </a:r>
            <a:r>
              <a:rPr lang="en-US" dirty="0"/>
              <a:t> the accuracy of the model’s predictions.</a:t>
            </a:r>
            <a:endParaRPr lang="en-US"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p:cNvSpPr txBox="1"/>
          <p:nvPr/>
        </p:nvSpPr>
        <p:spPr>
          <a:xfrm>
            <a:off x="268356" y="1414766"/>
            <a:ext cx="9871788" cy="4689489"/>
          </a:xfrm>
          <a:prstGeom prst="rect">
            <a:avLst/>
          </a:prstGeom>
          <a:noFill/>
        </p:spPr>
        <p:txBody>
          <a:bodyPr wrap="square" rtlCol="0">
            <a:spAutoFit/>
          </a:bodyPr>
          <a:lstStyle/>
          <a:p>
            <a:r>
              <a:rPr lang="en-US" dirty="0"/>
              <a:t>Data Collection:</a:t>
            </a:r>
            <a:endParaRPr lang="en-US" dirty="0"/>
          </a:p>
          <a:p>
            <a:r>
              <a:rPr lang="en-US" dirty="0"/>
              <a:t>Dataset: The dataset includes information on Vehicle Monthly Distance (Km) and the corresponding Calculated Carbon Emission (kg CO₂).</a:t>
            </a:r>
            <a:endParaRPr lang="en-US" dirty="0"/>
          </a:p>
          <a:p>
            <a:r>
              <a:rPr lang="en-US" dirty="0"/>
              <a:t>Source: A CSV file containing the relevant data.</a:t>
            </a:r>
            <a:endParaRPr lang="en-US" dirty="0"/>
          </a:p>
          <a:p>
            <a:r>
              <a:rPr lang="en-US" dirty="0"/>
              <a:t>Preprocessing:</a:t>
            </a:r>
            <a:endParaRPr lang="en-US" dirty="0"/>
          </a:p>
          <a:p>
            <a:r>
              <a:rPr lang="en-US" dirty="0"/>
              <a:t>The dataset is loaded using Pandas to prepare for analysis. A new column, "Calculated Carbon Emission", is derived based on a fixed emission factor of 0.2 kg CO₂ per km traveled.</a:t>
            </a:r>
            <a:endParaRPr lang="en-US" dirty="0"/>
          </a:p>
          <a:p>
            <a:r>
              <a:rPr lang="en-US" dirty="0"/>
              <a:t>Model Development:</a:t>
            </a:r>
            <a:endParaRPr lang="en-US" dirty="0"/>
          </a:p>
          <a:p>
            <a:r>
              <a:rPr lang="en-US" dirty="0"/>
              <a:t>Linear Regression is used to model the relationship between vehicle distance and carbon emissions.</a:t>
            </a:r>
            <a:endParaRPr lang="en-US" dirty="0"/>
          </a:p>
          <a:p>
            <a:r>
              <a:rPr lang="en-US" dirty="0"/>
              <a:t>Scikit-learn library is employed to fit the linear regression model without intercept (</a:t>
            </a:r>
            <a:r>
              <a:rPr lang="en-US" dirty="0" err="1"/>
              <a:t>fit_intercept</a:t>
            </a:r>
            <a:r>
              <a:rPr lang="en-US" dirty="0"/>
              <a:t>=False).</a:t>
            </a:r>
            <a:endParaRPr lang="en-US" dirty="0"/>
          </a:p>
          <a:p>
            <a:r>
              <a:rPr lang="en-US" dirty="0"/>
              <a:t>The Vehicle Monthly Distance (Km) is the independent variable (X), and Calculated Carbon Emission is the dependent variable (y).</a:t>
            </a:r>
            <a:endParaRPr lang="en-US" dirty="0"/>
          </a:p>
          <a:p>
            <a:r>
              <a:rPr lang="en-US" dirty="0"/>
              <a:t>The R² Score is computed to assess the accuracy of the model’s predictions.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p:cNvSpPr txBox="1"/>
          <p:nvPr/>
        </p:nvSpPr>
        <p:spPr>
          <a:xfrm>
            <a:off x="255104" y="1454522"/>
            <a:ext cx="9657184" cy="3252878"/>
          </a:xfrm>
          <a:prstGeom prst="rect">
            <a:avLst/>
          </a:prstGeom>
          <a:noFill/>
        </p:spPr>
        <p:txBody>
          <a:bodyPr wrap="square" rtlCol="0">
            <a:spAutoFit/>
          </a:bodyPr>
          <a:lstStyle/>
          <a:p>
            <a:r>
              <a:rPr lang="en-US" dirty="0"/>
              <a:t>With the increasing number of vehicles on the road, carbon emissions from transportation have become a major contributor to global climate change. Accurately estimating the carbon emissions of vehicles based on their monthly distance traveled can provide valuable insights for individuals, organizations, and governments aiming to reduce their environmental impact.</a:t>
            </a:r>
            <a:endParaRPr lang="en-US" dirty="0"/>
          </a:p>
          <a:p>
            <a:endParaRPr lang="en-US" dirty="0"/>
          </a:p>
          <a:p>
            <a:r>
              <a:rPr lang="en-US" dirty="0"/>
              <a:t>The goal of this project is to develop a predictive model that estimates the carbon emissions (kg CO₂) of a vehicle based on its monthly distance traveled (km). By leveraging historical data, this model will enable better understanding of the relationship between vehicle usage and its contribution to carbon emissions, aiding in the development of strategies for reducing transportation-related carbon footprints.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p:cNvSpPr txBox="1"/>
          <p:nvPr/>
        </p:nvSpPr>
        <p:spPr>
          <a:xfrm>
            <a:off x="255104" y="1454522"/>
            <a:ext cx="10179698" cy="4976812"/>
          </a:xfrm>
          <a:prstGeom prst="rect">
            <a:avLst/>
          </a:prstGeom>
          <a:noFill/>
        </p:spPr>
        <p:txBody>
          <a:bodyPr wrap="square" rtlCol="0">
            <a:spAutoFit/>
          </a:bodyPr>
          <a:lstStyle/>
          <a:p>
            <a:r>
              <a:rPr lang="en-US" dirty="0"/>
              <a:t>To address the problem of estimating carbon emissions from vehicles, we have developed a linear regression model that predicts carbon emissions (kg CO₂) based on vehicle monthly distance traveled (km).</a:t>
            </a:r>
            <a:endParaRPr lang="en-US" dirty="0"/>
          </a:p>
          <a:p>
            <a:r>
              <a:rPr lang="en-US" dirty="0"/>
              <a:t>Data Analysis and Preprocessing:</a:t>
            </a:r>
            <a:endParaRPr lang="en-US" dirty="0"/>
          </a:p>
          <a:p>
            <a:r>
              <a:rPr lang="en-US" dirty="0"/>
              <a:t>A dataset containing vehicle distance and corresponding carbon emissions is used. Carbon emissions are calculated using a fixed emission factor (0.2 kg CO₂ per km).</a:t>
            </a:r>
            <a:endParaRPr lang="en-US" dirty="0"/>
          </a:p>
          <a:p>
            <a:r>
              <a:rPr lang="en-US" dirty="0"/>
              <a:t>Linear Regression Model:</a:t>
            </a:r>
            <a:endParaRPr lang="en-US" dirty="0"/>
          </a:p>
          <a:p>
            <a:r>
              <a:rPr lang="en-US" dirty="0"/>
              <a:t>A linear regression algorithm is applied to model the relationship between vehicle distance and carbon emissions. The model is trained using historical data to learn how monthly distance impacts carbon emissions.</a:t>
            </a:r>
            <a:endParaRPr lang="en-US" dirty="0"/>
          </a:p>
          <a:p>
            <a:r>
              <a:rPr lang="en-US" dirty="0"/>
              <a:t>Visualization:</a:t>
            </a:r>
            <a:endParaRPr lang="en-US" dirty="0"/>
          </a:p>
          <a:p>
            <a:r>
              <a:rPr lang="en-US" dirty="0"/>
              <a:t>A scatter plot is generated to visually show the data distribution and the regression line that represents the model’s predictions.</a:t>
            </a:r>
            <a:endParaRPr lang="en-US" dirty="0"/>
          </a:p>
          <a:p>
            <a:r>
              <a:rPr lang="en-US" dirty="0"/>
              <a:t>Model Evaluation:</a:t>
            </a:r>
            <a:endParaRPr lang="en-US" dirty="0"/>
          </a:p>
          <a:p>
            <a:r>
              <a:rPr lang="en-US" dirty="0"/>
              <a:t>The model’s accuracy is evaluated using the R² score, which measures how well the model’s predictions align with the actual data. This solution will help predict and track the carbon emissions of vehicles, enabling better decision-making for reducing their environmental impact.</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8" name="Picture 7"/>
          <p:cNvPicPr>
            <a:picLocks noChangeAspect="1"/>
          </p:cNvPicPr>
          <p:nvPr/>
        </p:nvPicPr>
        <p:blipFill>
          <a:blip r:embed="rId1"/>
          <a:stretch>
            <a:fillRect/>
          </a:stretch>
        </p:blipFill>
        <p:spPr>
          <a:xfrm>
            <a:off x="415124" y="1454522"/>
            <a:ext cx="6626582" cy="51361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2" name="TextBox 1"/>
          <p:cNvSpPr txBox="1"/>
          <p:nvPr/>
        </p:nvSpPr>
        <p:spPr>
          <a:xfrm>
            <a:off x="149087" y="1388261"/>
            <a:ext cx="11327363" cy="3827523"/>
          </a:xfrm>
          <a:prstGeom prst="rect">
            <a:avLst/>
          </a:prstGeom>
          <a:noFill/>
        </p:spPr>
        <p:txBody>
          <a:bodyPr wrap="square" rtlCol="0">
            <a:spAutoFit/>
          </a:bodyPr>
          <a:lstStyle/>
          <a:p>
            <a:r>
              <a:rPr lang="en-US" dirty="0"/>
              <a:t>In this project, we successfully developed a </a:t>
            </a:r>
            <a:r>
              <a:rPr lang="en-US" b="1" dirty="0"/>
              <a:t>predictive model</a:t>
            </a:r>
            <a:r>
              <a:rPr lang="en-US" dirty="0"/>
              <a:t> that estimates </a:t>
            </a:r>
            <a:r>
              <a:rPr lang="en-US" b="1" dirty="0"/>
              <a:t>carbon emissions</a:t>
            </a:r>
            <a:r>
              <a:rPr lang="en-US" dirty="0"/>
              <a:t> of vehicles based on their </a:t>
            </a:r>
            <a:r>
              <a:rPr lang="en-US" b="1" dirty="0"/>
              <a:t>monthly distance traveled</a:t>
            </a:r>
            <a:r>
              <a:rPr lang="en-US" dirty="0"/>
              <a:t>. By leveraging </a:t>
            </a:r>
            <a:r>
              <a:rPr lang="en-US" b="1" dirty="0"/>
              <a:t>linear regression</a:t>
            </a:r>
            <a:r>
              <a:rPr lang="en-US" dirty="0"/>
              <a:t>, we were able to establish a clear relationship between vehicle distance and carbon emissions, providing an easy-to-understand approach for estimating emissions.</a:t>
            </a:r>
            <a:endParaRPr lang="en-US" dirty="0"/>
          </a:p>
          <a:p>
            <a:r>
              <a:rPr lang="en-US" dirty="0"/>
              <a:t>Key insights from the project include:</a:t>
            </a:r>
            <a:endParaRPr lang="en-US" dirty="0"/>
          </a:p>
          <a:p>
            <a:pPr>
              <a:buFont typeface="Arial" panose="020B0604020202020204" pitchFamily="34" charset="0"/>
              <a:buChar char="•"/>
            </a:pPr>
            <a:r>
              <a:rPr lang="en-US" dirty="0"/>
              <a:t>The </a:t>
            </a:r>
            <a:r>
              <a:rPr lang="en-US" b="1" dirty="0"/>
              <a:t>carbon emissions</a:t>
            </a:r>
            <a:r>
              <a:rPr lang="en-US" dirty="0"/>
              <a:t> increase linearly with the </a:t>
            </a:r>
            <a:r>
              <a:rPr lang="en-US" b="1" dirty="0"/>
              <a:t>distance traveled</a:t>
            </a:r>
            <a:r>
              <a:rPr lang="en-US" dirty="0"/>
              <a:t>.</a:t>
            </a:r>
            <a:endParaRPr lang="en-US" dirty="0"/>
          </a:p>
          <a:p>
            <a:pPr>
              <a:buFont typeface="Arial" panose="020B0604020202020204" pitchFamily="34" charset="0"/>
              <a:buChar char="•"/>
            </a:pPr>
            <a:r>
              <a:rPr lang="en-US" dirty="0"/>
              <a:t>The model demonstrates a high degree of accuracy as measured by the </a:t>
            </a:r>
            <a:r>
              <a:rPr lang="en-US" b="1" dirty="0"/>
              <a:t>R² score</a:t>
            </a:r>
            <a:r>
              <a:rPr lang="en-US" dirty="0"/>
              <a:t>, indicating its reliability in predicting emissions.</a:t>
            </a:r>
            <a:endParaRPr lang="en-US" dirty="0"/>
          </a:p>
          <a:p>
            <a:r>
              <a:rPr lang="en-US" dirty="0"/>
              <a:t>This model serves as an effective tool for individuals and organizations seeking to understand and potentially reduce their carbon footprint related to transportation. In future work, more complex models and additional data factors (e.g., vehicle type, fuel efficiency) could further refine predictions and enhance the model’s applicability.</a:t>
            </a:r>
            <a:endParaRPr lang="en-US" dirty="0"/>
          </a:p>
          <a:p>
            <a:endParaRPr lang="en-US" dirty="0"/>
          </a:p>
        </p:txBody>
      </p:sp>
    </p:spTree>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0</TotalTime>
  <Words>5039</Words>
  <Application>WPS Presentation</Application>
  <PresentationFormat>Widescreen</PresentationFormat>
  <Paragraphs>85</Paragraphs>
  <Slides>8</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8</vt:i4>
      </vt:variant>
    </vt:vector>
  </HeadingPairs>
  <TitlesOfParts>
    <vt:vector size="16" baseType="lpstr">
      <vt:lpstr>Arial</vt:lpstr>
      <vt:lpstr>SimSun</vt:lpstr>
      <vt:lpstr>Wingdings</vt:lpstr>
      <vt:lpstr>Arial</vt:lpstr>
      <vt:lpstr>Microsoft YaHei</vt:lpstr>
      <vt:lpstr>Arial Unicode MS</vt:lpstr>
      <vt:lpstr>Calibri</vt:lpstr>
      <vt:lpstr>Session 01 Design Thinking &amp; Critical Thinking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Kulshresht Sirvi</cp:lastModifiedBy>
  <cp:revision>4</cp:revision>
  <dcterms:created xsi:type="dcterms:W3CDTF">2024-12-31T09:40:00Z</dcterms:created>
  <dcterms:modified xsi:type="dcterms:W3CDTF">2025-01-30T08:13:29Z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886B7DA2B0F04CDBBCFB5D2420581874_12</vt:lpwstr>
  </property>
  <property fmtid="{D5CDD505-2E9C-101B-9397-08002B2CF9AE}" pid="3" name="KSOProductBuildVer">
    <vt:lpwstr>1033-12.2.0.19805</vt:lpwstr>
  </property>
</Properties>
</file>